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682-FCD2-4564-BE0B-AB3D5914EF9D}" type="datetimeFigureOut">
              <a:rPr lang="fr-FR" smtClean="0"/>
              <a:pPr/>
              <a:t>04/08/2020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29FA2-F868-444F-B434-9C05978EFE84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682-FCD2-4564-BE0B-AB3D5914EF9D}" type="datetimeFigureOut">
              <a:rPr lang="fr-FR" smtClean="0"/>
              <a:pPr/>
              <a:t>04/08/2020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29FA2-F868-444F-B434-9C05978EFE84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682-FCD2-4564-BE0B-AB3D5914EF9D}" type="datetimeFigureOut">
              <a:rPr lang="fr-FR" smtClean="0"/>
              <a:pPr/>
              <a:t>04/08/2020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29FA2-F868-444F-B434-9C05978EFE84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682-FCD2-4564-BE0B-AB3D5914EF9D}" type="datetimeFigureOut">
              <a:rPr lang="fr-FR" smtClean="0"/>
              <a:pPr/>
              <a:t>04/08/2020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29FA2-F868-444F-B434-9C05978EFE84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682-FCD2-4564-BE0B-AB3D5914EF9D}" type="datetimeFigureOut">
              <a:rPr lang="fr-FR" smtClean="0"/>
              <a:pPr/>
              <a:t>04/08/2020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29FA2-F868-444F-B434-9C05978EFE84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682-FCD2-4564-BE0B-AB3D5914EF9D}" type="datetimeFigureOut">
              <a:rPr lang="fr-FR" smtClean="0"/>
              <a:pPr/>
              <a:t>04/08/2020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29FA2-F868-444F-B434-9C05978EFE84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682-FCD2-4564-BE0B-AB3D5914EF9D}" type="datetimeFigureOut">
              <a:rPr lang="fr-FR" smtClean="0"/>
              <a:pPr/>
              <a:t>04/08/2020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29FA2-F868-444F-B434-9C05978EFE84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682-FCD2-4564-BE0B-AB3D5914EF9D}" type="datetimeFigureOut">
              <a:rPr lang="fr-FR" smtClean="0"/>
              <a:pPr/>
              <a:t>04/08/2020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29FA2-F868-444F-B434-9C05978EFE84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682-FCD2-4564-BE0B-AB3D5914EF9D}" type="datetimeFigureOut">
              <a:rPr lang="fr-FR" smtClean="0"/>
              <a:pPr/>
              <a:t>04/08/2020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29FA2-F868-444F-B434-9C05978EFE84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682-FCD2-4564-BE0B-AB3D5914EF9D}" type="datetimeFigureOut">
              <a:rPr lang="fr-FR" smtClean="0"/>
              <a:pPr/>
              <a:t>04/08/2020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29FA2-F868-444F-B434-9C05978EFE84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682-FCD2-4564-BE0B-AB3D5914EF9D}" type="datetimeFigureOut">
              <a:rPr lang="fr-FR" smtClean="0"/>
              <a:pPr/>
              <a:t>04/08/2020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29FA2-F868-444F-B434-9C05978EFE84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06682-FCD2-4564-BE0B-AB3D5914EF9D}" type="datetimeFigureOut">
              <a:rPr lang="fr-FR" smtClean="0"/>
              <a:pPr/>
              <a:t>04/08/2020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29FA2-F868-444F-B434-9C05978EFE84}" type="slidenum">
              <a:rPr lang="fr-FR" smtClean="0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loudfusion.co.za/blog/characteristics-of-a-successful-web-develope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5786" y="1857364"/>
            <a:ext cx="6843706" cy="1357322"/>
          </a:xfrm>
        </p:spPr>
        <p:txBody>
          <a:bodyPr>
            <a:normAutofit/>
          </a:bodyPr>
          <a:lstStyle/>
          <a:p>
            <a:pPr algn="l"/>
            <a:r>
              <a:rPr lang="fr-FR" sz="5400" b="1" dirty="0" smtClean="0">
                <a:solidFill>
                  <a:srgbClr val="00B0F0"/>
                </a:solidFill>
              </a:rPr>
              <a:t>Web </a:t>
            </a:r>
            <a:r>
              <a:rPr lang="fr-FR" sz="5400" b="1" dirty="0" err="1" smtClean="0">
                <a:solidFill>
                  <a:srgbClr val="00B0F0"/>
                </a:solidFill>
              </a:rPr>
              <a:t>fundamentals</a:t>
            </a:r>
            <a:endParaRPr lang="fr-FR" sz="5400" b="1" dirty="0">
              <a:solidFill>
                <a:srgbClr val="00B0F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24" y="3500438"/>
            <a:ext cx="6400800" cy="1428760"/>
          </a:xfrm>
        </p:spPr>
        <p:txBody>
          <a:bodyPr>
            <a:normAutofit/>
          </a:bodyPr>
          <a:lstStyle/>
          <a:p>
            <a:pPr algn="l"/>
            <a:r>
              <a:rPr lang="fr-FR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Checkpoint</a:t>
            </a:r>
            <a:r>
              <a:rPr lang="fr-F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fr-FR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</a:p>
          <a:p>
            <a:pPr algn="l"/>
            <a:r>
              <a:rPr lang="fr-FR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Nabil </a:t>
            </a:r>
            <a:r>
              <a:rPr lang="fr-FR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Messaoud</a:t>
            </a:r>
            <a:endParaRPr lang="fr-F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786578" y="571480"/>
            <a:ext cx="1962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i="1" dirty="0" err="1" smtClean="0">
                <a:solidFill>
                  <a:srgbClr val="FF0000"/>
                </a:solidFill>
              </a:rPr>
              <a:t>Gomycode</a:t>
            </a:r>
            <a:r>
              <a:rPr lang="fr-FR" i="1" dirty="0" smtClean="0">
                <a:solidFill>
                  <a:srgbClr val="FF0000"/>
                </a:solidFill>
              </a:rPr>
              <a:t>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fr-FR" sz="4000" b="1" i="1" dirty="0" smtClean="0">
                <a:solidFill>
                  <a:srgbClr val="00B050"/>
                </a:solidFill>
              </a:rPr>
              <a:t>Web </a:t>
            </a:r>
            <a:r>
              <a:rPr lang="fr-FR" sz="4000" b="1" i="1" dirty="0" err="1" smtClean="0">
                <a:solidFill>
                  <a:srgbClr val="00B050"/>
                </a:solidFill>
              </a:rPr>
              <a:t>definition</a:t>
            </a:r>
            <a:r>
              <a:rPr lang="fr-FR" sz="4000" b="1" i="1" dirty="0" smtClean="0">
                <a:solidFill>
                  <a:srgbClr val="00B050"/>
                </a:solidFill>
              </a:rPr>
              <a:t> </a:t>
            </a:r>
            <a:endParaRPr lang="fr-FR" sz="4000" b="1" i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fr-FR" sz="2400" dirty="0" smtClean="0"/>
              <a:t>The Web </a:t>
            </a:r>
            <a:r>
              <a:rPr lang="fr-FR" sz="2400" dirty="0" err="1" smtClean="0"/>
              <a:t>works</a:t>
            </a:r>
            <a:r>
              <a:rPr lang="fr-FR" sz="2400" dirty="0" smtClean="0"/>
              <a:t> on the top of the internet</a:t>
            </a:r>
          </a:p>
          <a:p>
            <a:pPr>
              <a:lnSpc>
                <a:spcPct val="150000"/>
              </a:lnSpc>
            </a:pPr>
            <a:r>
              <a:rPr lang="fr-FR" sz="2400" dirty="0" smtClean="0"/>
              <a:t> Is a system </a:t>
            </a:r>
            <a:r>
              <a:rPr lang="fr-FR" sz="2400" dirty="0" err="1" smtClean="0"/>
              <a:t>that</a:t>
            </a:r>
            <a:r>
              <a:rPr lang="fr-FR" sz="2400" dirty="0" smtClean="0"/>
              <a:t> </a:t>
            </a:r>
            <a:r>
              <a:rPr lang="fr-FR" sz="2400" dirty="0" err="1" smtClean="0"/>
              <a:t>interacts</a:t>
            </a:r>
            <a:r>
              <a:rPr lang="fr-FR" sz="2400" dirty="0" smtClean="0"/>
              <a:t> </a:t>
            </a:r>
            <a:r>
              <a:rPr lang="fr-FR" sz="2400" dirty="0" err="1" smtClean="0"/>
              <a:t>resources</a:t>
            </a:r>
            <a:r>
              <a:rPr lang="fr-FR" sz="2400" dirty="0" smtClean="0"/>
              <a:t> via </a:t>
            </a:r>
            <a:r>
              <a:rPr lang="fr-FR" sz="2400" dirty="0" err="1" smtClean="0"/>
              <a:t>hyperlinks</a:t>
            </a:r>
            <a:r>
              <a:rPr lang="fr-FR" sz="2400" dirty="0" smtClean="0"/>
              <a:t> </a:t>
            </a:r>
          </a:p>
          <a:p>
            <a:pPr>
              <a:lnSpc>
                <a:spcPct val="150000"/>
              </a:lnSpc>
            </a:pPr>
            <a:r>
              <a:rPr lang="fr-FR" sz="2400" dirty="0" err="1" smtClean="0"/>
              <a:t>We</a:t>
            </a:r>
            <a:r>
              <a:rPr lang="fr-FR" sz="2400" dirty="0" smtClean="0"/>
              <a:t> </a:t>
            </a:r>
            <a:r>
              <a:rPr lang="fr-FR" sz="2400" dirty="0" err="1" smtClean="0"/>
              <a:t>need</a:t>
            </a:r>
            <a:r>
              <a:rPr lang="fr-FR" sz="2400" dirty="0" smtClean="0"/>
              <a:t> a browser to </a:t>
            </a:r>
            <a:r>
              <a:rPr lang="fr-FR" sz="2400" dirty="0" err="1" smtClean="0"/>
              <a:t>access</a:t>
            </a:r>
            <a:r>
              <a:rPr lang="fr-FR" sz="2400" dirty="0" smtClean="0"/>
              <a:t> </a:t>
            </a:r>
            <a:r>
              <a:rPr lang="fr-FR" sz="2400" dirty="0" err="1" smtClean="0"/>
              <a:t>it</a:t>
            </a:r>
            <a:r>
              <a:rPr lang="fr-FR" sz="2400" dirty="0" smtClean="0"/>
              <a:t> : IE, </a:t>
            </a:r>
            <a:r>
              <a:rPr lang="fr-FR" sz="2400" dirty="0" err="1" smtClean="0"/>
              <a:t>google</a:t>
            </a:r>
            <a:r>
              <a:rPr lang="fr-FR" sz="2400" dirty="0" smtClean="0"/>
              <a:t> chrome, </a:t>
            </a:r>
            <a:r>
              <a:rPr lang="fr-FR" sz="2400" dirty="0" err="1"/>
              <a:t>M</a:t>
            </a:r>
            <a:r>
              <a:rPr lang="fr-FR" sz="2400" dirty="0" err="1" smtClean="0"/>
              <a:t>ozilla</a:t>
            </a:r>
            <a:r>
              <a:rPr lang="fr-FR" sz="2400" dirty="0" smtClean="0"/>
              <a:t> </a:t>
            </a:r>
            <a:r>
              <a:rPr lang="fr-FR" sz="2400" dirty="0" err="1" smtClean="0"/>
              <a:t>Firefox</a:t>
            </a:r>
            <a:endParaRPr lang="fr-FR" sz="2400" dirty="0" smtClean="0"/>
          </a:p>
          <a:p>
            <a:pPr>
              <a:lnSpc>
                <a:spcPct val="150000"/>
              </a:lnSpc>
            </a:pPr>
            <a:r>
              <a:rPr lang="fr-FR" sz="2400" dirty="0" err="1" smtClean="0"/>
              <a:t>Resources</a:t>
            </a:r>
            <a:r>
              <a:rPr lang="fr-FR" sz="2400" dirty="0" smtClean="0"/>
              <a:t> are </a:t>
            </a:r>
            <a:r>
              <a:rPr lang="fr-FR" sz="2400" dirty="0" err="1" smtClean="0"/>
              <a:t>presented</a:t>
            </a:r>
            <a:r>
              <a:rPr lang="fr-FR" sz="2400" dirty="0" smtClean="0"/>
              <a:t> on web pages and </a:t>
            </a:r>
            <a:r>
              <a:rPr lang="fr-FR" sz="2400" dirty="0" err="1" smtClean="0"/>
              <a:t>websites</a:t>
            </a:r>
            <a:r>
              <a:rPr lang="fr-FR" sz="2400" dirty="0" smtClean="0"/>
              <a:t> via URL</a:t>
            </a:r>
          </a:p>
          <a:p>
            <a:endParaRPr lang="fr-FR" dirty="0"/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642910" y="1142984"/>
            <a:ext cx="8143932" cy="71438"/>
          </a:xfrm>
          <a:prstGeom prst="line">
            <a:avLst/>
          </a:prstGeom>
          <a:ln w="254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fr-FR" sz="4000" b="1" i="1" dirty="0">
                <a:solidFill>
                  <a:srgbClr val="00B050"/>
                </a:solidFill>
              </a:rPr>
              <a:t>Web</a:t>
            </a:r>
            <a:r>
              <a:rPr lang="fr-FR" sz="4000" dirty="0" smtClean="0"/>
              <a:t> </a:t>
            </a:r>
            <a:r>
              <a:rPr lang="fr-FR" sz="4000" b="1" i="1" dirty="0">
                <a:solidFill>
                  <a:srgbClr val="00B050"/>
                </a:solidFill>
              </a:rP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 err="1" smtClean="0"/>
              <a:t>It’s</a:t>
            </a:r>
            <a:r>
              <a:rPr lang="fr-FR" sz="2400" dirty="0" smtClean="0"/>
              <a:t> a communication </a:t>
            </a:r>
            <a:r>
              <a:rPr lang="fr-FR" sz="2400" dirty="0" err="1" smtClean="0"/>
              <a:t>between</a:t>
            </a:r>
            <a:r>
              <a:rPr lang="fr-FR" sz="2400" dirty="0" smtClean="0"/>
              <a:t> </a:t>
            </a:r>
            <a:r>
              <a:rPr lang="fr-FR" sz="2400" dirty="0" err="1" smtClean="0"/>
              <a:t>two</a:t>
            </a:r>
            <a:r>
              <a:rPr lang="fr-FR" sz="2400" dirty="0" smtClean="0"/>
              <a:t> </a:t>
            </a:r>
            <a:r>
              <a:rPr lang="fr-FR" sz="2400" dirty="0" err="1" smtClean="0"/>
              <a:t>systems</a:t>
            </a:r>
            <a:r>
              <a:rPr lang="fr-FR" sz="2400" dirty="0" smtClean="0"/>
              <a:t>: clients and server via the internet </a:t>
            </a:r>
          </a:p>
          <a:p>
            <a:r>
              <a:rPr lang="fr-FR" sz="2400" dirty="0" err="1" smtClean="0"/>
              <a:t>We</a:t>
            </a:r>
            <a:r>
              <a:rPr lang="fr-FR" sz="2400" dirty="0" smtClean="0"/>
              <a:t> use HTTP as a communication </a:t>
            </a:r>
            <a:r>
              <a:rPr lang="fr-FR" sz="2400" dirty="0" err="1" smtClean="0"/>
              <a:t>protocol</a:t>
            </a:r>
            <a:r>
              <a:rPr lang="fr-FR" sz="2400" dirty="0" smtClean="0"/>
              <a:t> to </a:t>
            </a:r>
            <a:r>
              <a:rPr lang="fr-FR" sz="2400" dirty="0" err="1" smtClean="0"/>
              <a:t>manipulate</a:t>
            </a:r>
            <a:r>
              <a:rPr lang="fr-FR" sz="2400" dirty="0" smtClean="0"/>
              <a:t> data on the server: </a:t>
            </a:r>
            <a:r>
              <a:rPr lang="fr-FR" sz="2400" dirty="0" err="1" smtClean="0"/>
              <a:t>retrieve</a:t>
            </a:r>
            <a:r>
              <a:rPr lang="fr-FR" sz="2400" dirty="0" smtClean="0"/>
              <a:t>, </a:t>
            </a:r>
            <a:r>
              <a:rPr lang="fr-FR" sz="2400" dirty="0" err="1" smtClean="0"/>
              <a:t>add</a:t>
            </a:r>
            <a:r>
              <a:rPr lang="fr-FR" sz="2400" dirty="0" smtClean="0"/>
              <a:t>, update or </a:t>
            </a:r>
            <a:r>
              <a:rPr lang="fr-FR" sz="2400" dirty="0" err="1" smtClean="0"/>
              <a:t>delete</a:t>
            </a:r>
            <a:r>
              <a:rPr lang="fr-FR" sz="2400" dirty="0" smtClean="0"/>
              <a:t> </a:t>
            </a:r>
          </a:p>
          <a:p>
            <a:endParaRPr lang="fr-FR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3714752"/>
            <a:ext cx="6572296" cy="21431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cxnSp>
        <p:nvCxnSpPr>
          <p:cNvPr id="5" name="Straight Connector 4"/>
          <p:cNvCxnSpPr/>
          <p:nvPr/>
        </p:nvCxnSpPr>
        <p:spPr>
          <a:xfrm flipV="1">
            <a:off x="642910" y="1142984"/>
            <a:ext cx="8143932" cy="71438"/>
          </a:xfrm>
          <a:prstGeom prst="line">
            <a:avLst/>
          </a:prstGeom>
          <a:ln w="254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fr-FR" sz="4000" b="1" i="1" dirty="0">
                <a:solidFill>
                  <a:srgbClr val="00B050"/>
                </a:solidFill>
              </a:rPr>
              <a:t>Data </a:t>
            </a:r>
            <a:r>
              <a:rPr lang="fr-FR" sz="4000" b="1" i="1" dirty="0" smtClean="0">
                <a:solidFill>
                  <a:srgbClr val="00B050"/>
                </a:solidFill>
              </a:rPr>
              <a:t>transmission</a:t>
            </a:r>
            <a:endParaRPr lang="fr-FR" sz="4000" b="1" i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500174"/>
            <a:ext cx="8229600" cy="45259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fr-FR" sz="2400" dirty="0" err="1" smtClean="0"/>
              <a:t>Each</a:t>
            </a:r>
            <a:r>
              <a:rPr lang="fr-FR" sz="2400" dirty="0" smtClean="0"/>
              <a:t> system the clients and the server </a:t>
            </a:r>
            <a:r>
              <a:rPr lang="fr-FR" sz="2400" dirty="0" err="1" smtClean="0"/>
              <a:t>is</a:t>
            </a:r>
            <a:r>
              <a:rPr lang="fr-FR" sz="2400" dirty="0" smtClean="0"/>
              <a:t> </a:t>
            </a:r>
            <a:r>
              <a:rPr lang="fr-FR" sz="2400" dirty="0" err="1" smtClean="0"/>
              <a:t>identified</a:t>
            </a:r>
            <a:r>
              <a:rPr lang="fr-FR" sz="2400" dirty="0" smtClean="0"/>
              <a:t> by IP </a:t>
            </a:r>
            <a:r>
              <a:rPr lang="fr-FR" sz="2400" dirty="0" err="1" smtClean="0"/>
              <a:t>address</a:t>
            </a:r>
            <a:r>
              <a:rPr lang="fr-FR" sz="2400" dirty="0" smtClean="0"/>
              <a:t> </a:t>
            </a:r>
          </a:p>
          <a:p>
            <a:pPr>
              <a:lnSpc>
                <a:spcPct val="150000"/>
              </a:lnSpc>
            </a:pPr>
            <a:r>
              <a:rPr lang="fr-FR" sz="2400" dirty="0" smtClean="0"/>
              <a:t>The transmission </a:t>
            </a:r>
            <a:r>
              <a:rPr lang="fr-FR" sz="2400" dirty="0" err="1" smtClean="0"/>
              <a:t>between</a:t>
            </a:r>
            <a:r>
              <a:rPr lang="fr-FR" sz="2400" dirty="0" smtClean="0"/>
              <a:t> </a:t>
            </a:r>
            <a:r>
              <a:rPr lang="fr-FR" sz="2400" dirty="0" err="1" smtClean="0"/>
              <a:t>these</a:t>
            </a:r>
            <a:r>
              <a:rPr lang="fr-FR" sz="2400" dirty="0" smtClean="0"/>
              <a:t> </a:t>
            </a:r>
            <a:r>
              <a:rPr lang="fr-FR" sz="2400" dirty="0" err="1" smtClean="0"/>
              <a:t>systems</a:t>
            </a:r>
            <a:r>
              <a:rPr lang="fr-FR" sz="2400" dirty="0" smtClean="0"/>
              <a:t> </a:t>
            </a:r>
            <a:r>
              <a:rPr lang="fr-FR" sz="2400" dirty="0" err="1" smtClean="0"/>
              <a:t>is</a:t>
            </a:r>
            <a:r>
              <a:rPr lang="fr-FR" sz="2400" dirty="0" smtClean="0"/>
              <a:t> </a:t>
            </a:r>
            <a:r>
              <a:rPr lang="fr-FR" sz="2400" dirty="0" err="1" smtClean="0"/>
              <a:t>ruled</a:t>
            </a:r>
            <a:r>
              <a:rPr lang="fr-FR" sz="2400" dirty="0" smtClean="0"/>
              <a:t> by </a:t>
            </a:r>
            <a:r>
              <a:rPr lang="fr-FR" sz="2400" dirty="0" err="1" smtClean="0"/>
              <a:t>two</a:t>
            </a:r>
            <a:r>
              <a:rPr lang="fr-FR" sz="2400" dirty="0" smtClean="0"/>
              <a:t> </a:t>
            </a:r>
            <a:r>
              <a:rPr lang="fr-FR" sz="2400" dirty="0" err="1" smtClean="0"/>
              <a:t>protocols</a:t>
            </a:r>
            <a:r>
              <a:rPr lang="fr-FR" sz="2400" dirty="0" smtClean="0"/>
              <a:t> TCP/IP</a:t>
            </a:r>
          </a:p>
          <a:p>
            <a:pPr>
              <a:lnSpc>
                <a:spcPct val="150000"/>
              </a:lnSpc>
            </a:pPr>
            <a:r>
              <a:rPr lang="fr-FR" sz="2400" dirty="0" smtClean="0"/>
              <a:t>The </a:t>
            </a:r>
            <a:r>
              <a:rPr lang="fr-FR" sz="2400" dirty="0" err="1" smtClean="0"/>
              <a:t>methods</a:t>
            </a:r>
            <a:r>
              <a:rPr lang="fr-FR" sz="2400" dirty="0" smtClean="0"/>
              <a:t> </a:t>
            </a:r>
            <a:r>
              <a:rPr lang="fr-FR" sz="2400" dirty="0" err="1" smtClean="0"/>
              <a:t>used</a:t>
            </a:r>
            <a:r>
              <a:rPr lang="fr-FR" sz="2400" dirty="0" smtClean="0"/>
              <a:t> in HTTP </a:t>
            </a:r>
            <a:r>
              <a:rPr lang="fr-FR" sz="2400" dirty="0" err="1" smtClean="0"/>
              <a:t>protocol</a:t>
            </a:r>
            <a:r>
              <a:rPr lang="fr-FR" sz="2400" dirty="0" smtClean="0"/>
              <a:t> are </a:t>
            </a:r>
            <a:r>
              <a:rPr lang="fr-FR" sz="2400" dirty="0" err="1" smtClean="0"/>
              <a:t>regrouped</a:t>
            </a:r>
            <a:r>
              <a:rPr lang="fr-FR" sz="2400" dirty="0" smtClean="0"/>
              <a:t> in a software </a:t>
            </a:r>
            <a:r>
              <a:rPr lang="fr-FR" sz="2400" dirty="0" err="1" smtClean="0"/>
              <a:t>called</a:t>
            </a:r>
            <a:r>
              <a:rPr lang="fr-FR" sz="2400" dirty="0" smtClean="0"/>
              <a:t> API</a:t>
            </a:r>
          </a:p>
          <a:p>
            <a:endParaRPr lang="fr-FR" dirty="0"/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642910" y="1142984"/>
            <a:ext cx="8143932" cy="71438"/>
          </a:xfrm>
          <a:prstGeom prst="line">
            <a:avLst/>
          </a:prstGeom>
          <a:ln w="254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fr-FR" sz="4000" b="1" i="1" dirty="0" smtClean="0">
                <a:solidFill>
                  <a:srgbClr val="00B050"/>
                </a:solidFill>
              </a:rPr>
              <a:t>Web </a:t>
            </a:r>
            <a:r>
              <a:rPr lang="fr-FR" sz="4000" b="1" i="1" dirty="0" err="1" smtClean="0">
                <a:solidFill>
                  <a:srgbClr val="00B050"/>
                </a:solidFill>
              </a:rPr>
              <a:t>development</a:t>
            </a:r>
            <a:r>
              <a:rPr lang="fr-FR" sz="4000" b="1" i="1" dirty="0" smtClean="0">
                <a:solidFill>
                  <a:srgbClr val="00B050"/>
                </a:solidFill>
              </a:rPr>
              <a:t> </a:t>
            </a:r>
            <a:r>
              <a:rPr lang="fr-FR" sz="4000" b="1" i="1" dirty="0" err="1" smtClean="0">
                <a:solidFill>
                  <a:srgbClr val="00B050"/>
                </a:solidFill>
              </a:rPr>
              <a:t>requirments</a:t>
            </a:r>
            <a:r>
              <a:rPr lang="fr-FR" sz="4000" b="1" i="1" dirty="0" smtClean="0">
                <a:solidFill>
                  <a:srgbClr val="00B050"/>
                </a:solidFill>
              </a:rPr>
              <a:t> </a:t>
            </a:r>
            <a:endParaRPr lang="fr-FR" sz="4000" b="1" i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 smtClean="0"/>
              <a:t>The web development covers three layers :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 smtClean="0"/>
              <a:t>Client-side coding (front-end):HTML, CSS and </a:t>
            </a:r>
            <a:r>
              <a:rPr lang="en-US" sz="2400" dirty="0" err="1" smtClean="0"/>
              <a:t>javascript</a:t>
            </a:r>
            <a:r>
              <a:rPr lang="en-US" sz="2400" dirty="0" smtClean="0"/>
              <a:t>, </a:t>
            </a:r>
            <a:r>
              <a:rPr lang="en-US" sz="2400" dirty="0" err="1" smtClean="0"/>
              <a:t>jQuery</a:t>
            </a:r>
            <a:r>
              <a:rPr lang="en-US" sz="2400" dirty="0"/>
              <a:t>, React, Angular, or </a:t>
            </a:r>
            <a:r>
              <a:rPr lang="en-US" sz="2400" dirty="0" err="1" smtClean="0"/>
              <a:t>Vue</a:t>
            </a:r>
            <a:endParaRPr lang="en-US" sz="2400" dirty="0" smtClean="0"/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 smtClean="0"/>
              <a:t>Server-side coding (back-end): PHP</a:t>
            </a:r>
            <a:r>
              <a:rPr lang="en-US" sz="2400" dirty="0"/>
              <a:t>, ASP, Python, or </a:t>
            </a:r>
            <a:r>
              <a:rPr lang="en-US" sz="2400" dirty="0" smtClean="0"/>
              <a:t>Node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 smtClean="0"/>
              <a:t>Database technology: SQL, </a:t>
            </a:r>
            <a:r>
              <a:rPr lang="en-US" sz="2400" dirty="0" err="1" smtClean="0"/>
              <a:t>MangoDB</a:t>
            </a:r>
            <a:r>
              <a:rPr lang="en-US" sz="2400" dirty="0" smtClean="0"/>
              <a:t>, </a:t>
            </a:r>
            <a:r>
              <a:rPr lang="en-US" sz="2400" dirty="0" err="1" smtClean="0"/>
              <a:t>SQLite</a:t>
            </a:r>
            <a:endParaRPr lang="en-US" sz="2400" dirty="0"/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642910" y="1142984"/>
            <a:ext cx="8143932" cy="71438"/>
          </a:xfrm>
          <a:prstGeom prst="line">
            <a:avLst/>
          </a:prstGeom>
          <a:ln w="254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fr-FR" sz="4000" b="1" i="1" dirty="0" smtClean="0">
                <a:solidFill>
                  <a:srgbClr val="00B050"/>
                </a:solidFill>
              </a:rPr>
              <a:t>Web </a:t>
            </a:r>
            <a:r>
              <a:rPr lang="fr-FR" sz="4000" b="1" i="1" dirty="0" err="1" smtClean="0">
                <a:solidFill>
                  <a:srgbClr val="00B050"/>
                </a:solidFill>
              </a:rPr>
              <a:t>developer</a:t>
            </a:r>
            <a:r>
              <a:rPr lang="fr-FR" sz="4000" b="1" i="1" dirty="0" smtClean="0">
                <a:solidFill>
                  <a:srgbClr val="00B050"/>
                </a:solidFill>
              </a:rPr>
              <a:t> </a:t>
            </a:r>
            <a:r>
              <a:rPr lang="fr-FR" sz="4000" b="1" i="1" dirty="0" err="1" smtClean="0">
                <a:solidFill>
                  <a:srgbClr val="00B050"/>
                </a:solidFill>
              </a:rPr>
              <a:t>Role</a:t>
            </a:r>
            <a:r>
              <a:rPr lang="fr-FR" sz="4000" b="1" i="1" dirty="0" smtClean="0">
                <a:solidFill>
                  <a:srgbClr val="00B050"/>
                </a:solidFill>
              </a:rPr>
              <a:t>:</a:t>
            </a:r>
            <a:endParaRPr lang="fr-FR" sz="4000" b="1" i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428736"/>
            <a:ext cx="8229600" cy="504351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fr-FR" sz="2800" dirty="0" err="1" smtClean="0"/>
              <a:t>Create</a:t>
            </a:r>
            <a:r>
              <a:rPr lang="fr-FR" sz="2800" dirty="0" smtClean="0"/>
              <a:t> or </a:t>
            </a:r>
            <a:r>
              <a:rPr lang="fr-FR" sz="2800" dirty="0" err="1" smtClean="0"/>
              <a:t>modify</a:t>
            </a:r>
            <a:r>
              <a:rPr lang="fr-FR" sz="2800" dirty="0" smtClean="0"/>
              <a:t> </a:t>
            </a:r>
            <a:r>
              <a:rPr lang="fr-FR" sz="2800" dirty="0" err="1" smtClean="0"/>
              <a:t>existing</a:t>
            </a:r>
            <a:r>
              <a:rPr lang="fr-FR" sz="2800" dirty="0" smtClean="0"/>
              <a:t> </a:t>
            </a:r>
            <a:r>
              <a:rPr lang="fr-FR" sz="2800" dirty="0" err="1" smtClean="0"/>
              <a:t>website</a:t>
            </a:r>
            <a:r>
              <a:rPr lang="fr-FR" sz="2800" dirty="0" smtClean="0"/>
              <a:t> </a:t>
            </a:r>
            <a:r>
              <a:rPr lang="fr-FR" sz="2800" dirty="0" err="1" smtClean="0"/>
              <a:t>using</a:t>
            </a:r>
            <a:r>
              <a:rPr lang="fr-FR" sz="2800" dirty="0" smtClean="0"/>
              <a:t> HTML and CSS to have </a:t>
            </a:r>
            <a:r>
              <a:rPr lang="fr-FR" sz="2800" dirty="0" err="1" smtClean="0"/>
              <a:t>beautiful</a:t>
            </a:r>
            <a:r>
              <a:rPr lang="fr-FR" sz="2800" dirty="0" smtClean="0"/>
              <a:t> design and </a:t>
            </a:r>
            <a:r>
              <a:rPr lang="fr-FR" sz="2800" dirty="0" err="1" smtClean="0"/>
              <a:t>javascript</a:t>
            </a:r>
            <a:r>
              <a:rPr lang="fr-FR" sz="2800" dirty="0" smtClean="0"/>
              <a:t> to </a:t>
            </a:r>
            <a:r>
              <a:rPr lang="fr-FR" sz="2800" dirty="0" err="1" smtClean="0"/>
              <a:t>create</a:t>
            </a:r>
            <a:r>
              <a:rPr lang="fr-FR" sz="2800" dirty="0" smtClean="0"/>
              <a:t> and </a:t>
            </a:r>
            <a:r>
              <a:rPr lang="fr-FR" sz="2800" dirty="0" err="1" smtClean="0"/>
              <a:t>add</a:t>
            </a:r>
            <a:r>
              <a:rPr lang="fr-FR" sz="2800" dirty="0" smtClean="0"/>
              <a:t> </a:t>
            </a:r>
            <a:r>
              <a:rPr lang="fr-FR" sz="2800" dirty="0" err="1" smtClean="0"/>
              <a:t>functionalities</a:t>
            </a:r>
            <a:r>
              <a:rPr lang="fr-FR" sz="28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fr-FR" sz="2800" dirty="0" smtClean="0"/>
              <a:t>He </a:t>
            </a:r>
            <a:r>
              <a:rPr lang="fr-FR" sz="2800" dirty="0" err="1" smtClean="0"/>
              <a:t>also</a:t>
            </a:r>
            <a:r>
              <a:rPr lang="fr-FR" sz="2800" dirty="0" smtClean="0"/>
              <a:t> </a:t>
            </a:r>
            <a:r>
              <a:rPr lang="fr-FR" sz="2800" dirty="0" err="1" smtClean="0"/>
              <a:t>works</a:t>
            </a:r>
            <a:r>
              <a:rPr lang="fr-FR" sz="2800" dirty="0" smtClean="0"/>
              <a:t> on the back end the server and </a:t>
            </a:r>
            <a:r>
              <a:rPr lang="fr-FR" sz="2800" dirty="0" err="1" smtClean="0"/>
              <a:t>database</a:t>
            </a:r>
            <a:r>
              <a:rPr lang="fr-FR" sz="2800" dirty="0" smtClean="0"/>
              <a:t> </a:t>
            </a:r>
            <a:r>
              <a:rPr lang="fr-FR" sz="2800" dirty="0" err="1" smtClean="0"/>
              <a:t>which</a:t>
            </a:r>
            <a:r>
              <a:rPr lang="fr-FR" sz="2800" dirty="0" smtClean="0"/>
              <a:t> are not visible to the user</a:t>
            </a:r>
          </a:p>
          <a:p>
            <a:pPr>
              <a:lnSpc>
                <a:spcPct val="150000"/>
              </a:lnSpc>
            </a:pPr>
            <a:r>
              <a:rPr lang="en-US" sz="2400" u="sng" dirty="0" smtClean="0">
                <a:hlinkClick r:id="rId2"/>
              </a:rPr>
              <a:t>Characteristics of a Successful Web Developer</a:t>
            </a:r>
          </a:p>
          <a:p>
            <a:pPr>
              <a:lnSpc>
                <a:spcPct val="150000"/>
              </a:lnSpc>
            </a:pPr>
            <a:r>
              <a:rPr lang="fr-FR" sz="2800" dirty="0" smtClean="0"/>
              <a:t>A </a:t>
            </a:r>
            <a:r>
              <a:rPr lang="fr-FR" sz="2800" dirty="0" smtClean="0"/>
              <a:t>passion for </a:t>
            </a:r>
            <a:r>
              <a:rPr lang="fr-FR" sz="2800" dirty="0" err="1" smtClean="0"/>
              <a:t>knowledge</a:t>
            </a:r>
            <a:r>
              <a:rPr lang="fr-FR" sz="2800" dirty="0" smtClean="0"/>
              <a:t>,</a:t>
            </a:r>
            <a:r>
              <a:rPr lang="fr-FR" sz="2800" dirty="0" smtClean="0"/>
              <a:t> Great </a:t>
            </a:r>
            <a:r>
              <a:rPr lang="fr-FR" sz="2800" dirty="0" err="1" smtClean="0"/>
              <a:t>teammate</a:t>
            </a:r>
            <a:r>
              <a:rPr lang="fr-FR" sz="2800" dirty="0" smtClean="0"/>
              <a:t>, </a:t>
            </a:r>
            <a:r>
              <a:rPr lang="fr-FR" sz="2800" dirty="0" err="1" smtClean="0"/>
              <a:t>Creative</a:t>
            </a:r>
            <a:r>
              <a:rPr lang="fr-FR" sz="2800" dirty="0" smtClean="0"/>
              <a:t> </a:t>
            </a:r>
            <a:r>
              <a:rPr lang="fr-FR" sz="2800" dirty="0" err="1" smtClean="0"/>
              <a:t>problem</a:t>
            </a:r>
            <a:r>
              <a:rPr lang="fr-FR" sz="2800" dirty="0" smtClean="0"/>
              <a:t> </a:t>
            </a:r>
            <a:r>
              <a:rPr lang="fr-FR" sz="2800" dirty="0" err="1" smtClean="0"/>
              <a:t>solver</a:t>
            </a:r>
            <a:r>
              <a:rPr lang="fr-FR" sz="2800" dirty="0" smtClean="0"/>
              <a:t>, </a:t>
            </a:r>
            <a:r>
              <a:rPr lang="en-US" sz="2800" dirty="0" smtClean="0"/>
              <a:t>Ability </a:t>
            </a:r>
            <a:r>
              <a:rPr lang="en-US" sz="2800" dirty="0" smtClean="0"/>
              <a:t>to plan for </a:t>
            </a:r>
            <a:r>
              <a:rPr lang="en-US" sz="2800" dirty="0" smtClean="0"/>
              <a:t>everything, </a:t>
            </a:r>
            <a:r>
              <a:rPr lang="fr-FR" sz="2800" dirty="0" smtClean="0"/>
              <a:t>Great </a:t>
            </a:r>
            <a:r>
              <a:rPr lang="fr-FR" sz="2800" dirty="0" err="1" smtClean="0"/>
              <a:t>debugging</a:t>
            </a:r>
            <a:r>
              <a:rPr lang="fr-FR" sz="2800" dirty="0" smtClean="0"/>
              <a:t> </a:t>
            </a:r>
            <a:r>
              <a:rPr lang="fr-FR" sz="2800" dirty="0" err="1" smtClean="0"/>
              <a:t>skills</a:t>
            </a:r>
            <a:endParaRPr lang="fr-FR" sz="2800" dirty="0" smtClean="0"/>
          </a:p>
          <a:p>
            <a:r>
              <a:rPr lang="fr-FR" sz="1600" dirty="0" smtClean="0"/>
              <a:t/>
            </a:r>
            <a:br>
              <a:rPr lang="fr-FR" sz="1600" dirty="0" smtClean="0"/>
            </a:br>
            <a:endParaRPr lang="fr-FR" sz="2000" dirty="0" smtClean="0"/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642910" y="1142984"/>
            <a:ext cx="8143932" cy="71438"/>
          </a:xfrm>
          <a:prstGeom prst="line">
            <a:avLst/>
          </a:prstGeom>
          <a:ln w="254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247</Words>
  <Application>Microsoft Office PowerPoint</Application>
  <PresentationFormat>On-screen Show (4:3)</PresentationFormat>
  <Paragraphs>27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Web fundamentals</vt:lpstr>
      <vt:lpstr>Web definition </vt:lpstr>
      <vt:lpstr>Web architecture</vt:lpstr>
      <vt:lpstr>Data transmission</vt:lpstr>
      <vt:lpstr>Web development requirments </vt:lpstr>
      <vt:lpstr>Web developer Role: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fundamentals</dc:title>
  <dc:creator>Dreamer</dc:creator>
  <cp:lastModifiedBy>Dreamer</cp:lastModifiedBy>
  <cp:revision>22</cp:revision>
  <dcterms:created xsi:type="dcterms:W3CDTF">2020-08-04T09:26:29Z</dcterms:created>
  <dcterms:modified xsi:type="dcterms:W3CDTF">2020-08-04T15:02:29Z</dcterms:modified>
</cp:coreProperties>
</file>